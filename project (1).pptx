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9" r:id="rId5"/>
    <p:sldId id="298" r:id="rId6"/>
    <p:sldId id="300" r:id="rId7"/>
    <p:sldId id="301" r:id="rId8"/>
    <p:sldId id="302" r:id="rId9"/>
    <p:sldId id="304" r:id="rId10"/>
    <p:sldId id="303" r:id="rId11"/>
    <p:sldId id="310" r:id="rId12"/>
    <p:sldId id="305" r:id="rId13"/>
    <p:sldId id="306" r:id="rId14"/>
    <p:sldId id="307" r:id="rId15"/>
    <p:sldId id="308" r:id="rId16"/>
    <p:sldId id="309" r:id="rId17"/>
    <p:sldId id="31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72" d="100"/>
          <a:sy n="72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7/7/2023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7/7/2023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7/7/2023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7/7/2023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7/7/2023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7/7/2023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7/7/2023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7/7/2023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7/7/2023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7/7/2023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AD83F8-E32B-4EEE-A6E7-B25D2B204E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0450" y="2557159"/>
            <a:ext cx="2451100" cy="2451100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2B1741-064E-402F-8F1F-8973A23B128B}"/>
              </a:ext>
            </a:extLst>
          </p:cNvPr>
          <p:cNvSpPr txBox="1"/>
          <p:nvPr/>
        </p:nvSpPr>
        <p:spPr>
          <a:xfrm>
            <a:off x="318052" y="246044"/>
            <a:ext cx="11582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PREDICTION</a:t>
            </a:r>
          </a:p>
          <a:p>
            <a:pPr algn="ctr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ST. GONSALO GARCIA COLLEGE OF ARTS AND COMMERCE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Vasai Road(W) Maharashtra 401202</a:t>
            </a:r>
          </a:p>
          <a:p>
            <a:pPr algn="ctr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21FD36-B173-4361-91CA-D9E045818D3D}"/>
              </a:ext>
            </a:extLst>
          </p:cNvPr>
          <p:cNvSpPr txBox="1"/>
          <p:nvPr/>
        </p:nvSpPr>
        <p:spPr>
          <a:xfrm>
            <a:off x="3498574" y="5380382"/>
            <a:ext cx="54598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: Prof. Calvina Maharao.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1133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73" y="226261"/>
            <a:ext cx="1219198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5845" y="1556797"/>
            <a:ext cx="3896139" cy="2901694"/>
          </a:xfrm>
        </p:spPr>
        <p:txBody>
          <a:bodyPr anchor="b"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STOCK PREDICTION</a:t>
            </a:r>
            <a:br>
              <a:rPr lang="en-US" sz="4400" dirty="0">
                <a:solidFill>
                  <a:schemeClr val="tx1"/>
                </a:solidFill>
              </a:rPr>
            </a:b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200939"/>
            <a:ext cx="3205640" cy="1181823"/>
          </a:xfrm>
        </p:spPr>
        <p:txBody>
          <a:bodyPr anchor="t">
            <a:normAutofit fontScale="55000" lnSpcReduction="20000"/>
          </a:bodyPr>
          <a:lstStyle/>
          <a:p>
            <a:pPr>
              <a:lnSpc>
                <a:spcPct val="100000"/>
              </a:lnSpc>
            </a:pPr>
            <a:r>
              <a:rPr lang="en-US" sz="2900" dirty="0"/>
              <a:t>By:</a:t>
            </a:r>
          </a:p>
          <a:p>
            <a:pPr>
              <a:lnSpc>
                <a:spcPct val="100000"/>
              </a:lnSpc>
            </a:pPr>
            <a:r>
              <a:rPr lang="en-US" sz="2900" dirty="0"/>
              <a:t>Rechael Vincent lopes</a:t>
            </a:r>
          </a:p>
          <a:p>
            <a:pPr>
              <a:lnSpc>
                <a:spcPct val="100000"/>
              </a:lnSpc>
            </a:pPr>
            <a:r>
              <a:rPr lang="en-US" sz="2900" dirty="0"/>
              <a:t>Seat no. </a:t>
            </a:r>
            <a:r>
              <a:rPr lang="en-US" sz="2900"/>
              <a:t>4136040</a:t>
            </a:r>
            <a:endParaRPr lang="en-US" sz="2900" dirty="0"/>
          </a:p>
          <a:p>
            <a:pPr>
              <a:lnSpc>
                <a:spcPct val="100000"/>
              </a:lnSpc>
            </a:pPr>
            <a:endParaRPr lang="en-US" sz="1600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E86BFC-7E7A-4D46-B9BA-929AB96A61DF}"/>
              </a:ext>
            </a:extLst>
          </p:cNvPr>
          <p:cNvSpPr txBox="1"/>
          <p:nvPr/>
        </p:nvSpPr>
        <p:spPr>
          <a:xfrm>
            <a:off x="1033670" y="1948070"/>
            <a:ext cx="556591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 current times the demand for buying and selling of stocks and also the general interest of public in stock marketing has increased.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Stock market prediction is the act of trying to determine the future outcomes of the company’s stock or other financial memos traded on an exchange.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project aims to predict the actual and closing price of any stock along with the actual and predicted graph.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558FFB-0ADA-4D3F-AEDD-C32A20FC01FA}"/>
              </a:ext>
            </a:extLst>
          </p:cNvPr>
          <p:cNvSpPr txBox="1"/>
          <p:nvPr/>
        </p:nvSpPr>
        <p:spPr>
          <a:xfrm>
            <a:off x="4333461" y="795130"/>
            <a:ext cx="4412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3877CD-7042-46F0-BBEF-741C50C3C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7437" y="1948070"/>
            <a:ext cx="4572638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98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46FF8E-6C71-45F5-8D5A-3575341C47D3}"/>
              </a:ext>
            </a:extLst>
          </p:cNvPr>
          <p:cNvSpPr txBox="1"/>
          <p:nvPr/>
        </p:nvSpPr>
        <p:spPr>
          <a:xfrm>
            <a:off x="2796209" y="781878"/>
            <a:ext cx="66260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REQUIRMENTS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DA9C04-B886-4440-9031-33A094062010}"/>
              </a:ext>
            </a:extLst>
          </p:cNvPr>
          <p:cNvSpPr txBox="1"/>
          <p:nvPr/>
        </p:nvSpPr>
        <p:spPr>
          <a:xfrm>
            <a:off x="1099930" y="2167116"/>
            <a:ext cx="6135756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Processor: AMD A6-4455M APU 2.10GHz or above.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Hard-disk space: 20GB or above.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Display: Colour Monitor.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ctr"/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MEMORY REQUIRMENT </a:t>
            </a:r>
          </a:p>
          <a:p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128MB of RAM. 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32BFFE-DCBA-48DD-B253-1490E4761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1381" y="1880262"/>
            <a:ext cx="4090689" cy="3097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416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B99871-873F-42BA-8D8D-417951CC47A5}"/>
              </a:ext>
            </a:extLst>
          </p:cNvPr>
          <p:cNvSpPr txBox="1"/>
          <p:nvPr/>
        </p:nvSpPr>
        <p:spPr>
          <a:xfrm>
            <a:off x="3352800" y="768626"/>
            <a:ext cx="5711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REQUIRMENTS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B70A38-7913-4A59-820D-D38F9986181D}"/>
              </a:ext>
            </a:extLst>
          </p:cNvPr>
          <p:cNvSpPr txBox="1"/>
          <p:nvPr/>
        </p:nvSpPr>
        <p:spPr>
          <a:xfrm>
            <a:off x="1742660" y="1669774"/>
            <a:ext cx="4465983" cy="2581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Python: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Python is a high-level, general-purpose programming language which supports multiple programming paradigms like structed, object oriented and functional programming.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CD4FD3-4553-47FE-9A87-F420F6EE3CD4}"/>
              </a:ext>
            </a:extLst>
          </p:cNvPr>
          <p:cNvSpPr txBox="1"/>
          <p:nvPr/>
        </p:nvSpPr>
        <p:spPr>
          <a:xfrm>
            <a:off x="6096000" y="4148578"/>
            <a:ext cx="4439479" cy="2221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Steamlit: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Steamlit software is used to turn data scripts into shareable web apps. Its based on python and is an open source software.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2D0D3B-84B1-418D-B845-D2E75C849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3251" y="1483207"/>
            <a:ext cx="2345636" cy="22258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878752-2C4F-480A-A26C-00C711A22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567" y="4108028"/>
            <a:ext cx="3598086" cy="185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501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5E5038-1AEF-4CA9-9409-B099530C47A4}"/>
              </a:ext>
            </a:extLst>
          </p:cNvPr>
          <p:cNvSpPr txBox="1"/>
          <p:nvPr/>
        </p:nvSpPr>
        <p:spPr>
          <a:xfrm>
            <a:off x="3048000" y="675861"/>
            <a:ext cx="6891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AB723F-397E-4799-ADA0-8D73380CC537}"/>
              </a:ext>
            </a:extLst>
          </p:cNvPr>
          <p:cNvSpPr txBox="1"/>
          <p:nvPr/>
        </p:nvSpPr>
        <p:spPr>
          <a:xfrm>
            <a:off x="5499652" y="1961322"/>
            <a:ext cx="569843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project focuses on maximizing the investor’s profit by predicting the future outcomes.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can benefit the economy of a company and can help users make wise investment choices. </a:t>
            </a: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can be applied to various fields like finance, stock market, small/large businesses, personal use, etc.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goal of stock prediction is to help organizations deliver maximum business value.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14F003-C611-42B3-9AE0-4673F548C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913" y="2248355"/>
            <a:ext cx="4272812" cy="236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617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45A462-53A0-47FD-A58E-368344E9373C}"/>
              </a:ext>
            </a:extLst>
          </p:cNvPr>
          <p:cNvSpPr txBox="1"/>
          <p:nvPr/>
        </p:nvSpPr>
        <p:spPr>
          <a:xfrm>
            <a:off x="3843130" y="768626"/>
            <a:ext cx="5698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BEB54D-831B-4412-A2CF-CAEE1EC88E9A}"/>
              </a:ext>
            </a:extLst>
          </p:cNvPr>
          <p:cNvSpPr txBox="1"/>
          <p:nvPr/>
        </p:nvSpPr>
        <p:spPr>
          <a:xfrm>
            <a:off x="1563757" y="1997839"/>
            <a:ext cx="417443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proposed system </a:t>
            </a: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 based on t</a:t>
            </a: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 Long Short Term Memory (LSTM) </a:t>
            </a: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Algorithm,</a:t>
            </a: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 artificial neural network that is based on a Machine Learning Algorithm and is in the field of Deep Learning.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uses a set of Training Data and Test Data and implements the results.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60C68A-38E3-42FA-9148-C54D7BE63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349" y="1646583"/>
            <a:ext cx="3619894" cy="321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527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87DE32-DCF5-4195-821B-3170BB076081}"/>
              </a:ext>
            </a:extLst>
          </p:cNvPr>
          <p:cNvSpPr txBox="1"/>
          <p:nvPr/>
        </p:nvSpPr>
        <p:spPr>
          <a:xfrm>
            <a:off x="1550504" y="622852"/>
            <a:ext cx="9422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FOR THE ALGORITHM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C615F3-8A10-4788-90A1-0D1833B4A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921" y="2369240"/>
            <a:ext cx="5238750" cy="16954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362E85-DD6C-47E0-9734-E0270965C810}"/>
              </a:ext>
            </a:extLst>
          </p:cNvPr>
          <p:cNvSpPr txBox="1"/>
          <p:nvPr/>
        </p:nvSpPr>
        <p:spPr>
          <a:xfrm>
            <a:off x="6546574" y="1974574"/>
            <a:ext cx="471321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and Test dataset are two key components of any machine learning model.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Training dataset is bigger in size and a subset of the original dataset that is used to train the machine learning model.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Testing dataset is a smaller subset of the original dataset independent of the training dataset. 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058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9FA0A6-8867-4E0B-B5D1-4DF5B680033B}"/>
              </a:ext>
            </a:extLst>
          </p:cNvPr>
          <p:cNvSpPr txBox="1"/>
          <p:nvPr/>
        </p:nvSpPr>
        <p:spPr>
          <a:xfrm>
            <a:off x="2014330" y="728870"/>
            <a:ext cx="82826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AND RNN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6C4ED7-61CB-4473-904C-9E5318571F92}"/>
              </a:ext>
            </a:extLst>
          </p:cNvPr>
          <p:cNvSpPr txBox="1"/>
          <p:nvPr/>
        </p:nvSpPr>
        <p:spPr>
          <a:xfrm>
            <a:off x="1470991" y="2305615"/>
            <a:ext cx="925001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Algorithm is based on the principles of an Advance Neural Network.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Neural Network depicts the way a human brain works.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purpose of an Artificial Neural Network in to make computers understand and work in human like format.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works as a Recurrent Neural Network that is the output from the previous step is fed as an input to the current step</a:t>
            </a:r>
          </a:p>
        </p:txBody>
      </p:sp>
    </p:spTree>
    <p:extLst>
      <p:ext uri="{BB962C8B-B14F-4D97-AF65-F5344CB8AC3E}">
        <p14:creationId xmlns:p14="http://schemas.microsoft.com/office/powerpoint/2010/main" val="257948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12E8E8-D1B0-4CEF-8DEB-5B624B6DDC77}"/>
              </a:ext>
            </a:extLst>
          </p:cNvPr>
          <p:cNvSpPr txBox="1"/>
          <p:nvPr/>
        </p:nvSpPr>
        <p:spPr>
          <a:xfrm>
            <a:off x="2067339" y="344557"/>
            <a:ext cx="82958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OF THE LSTM ALGORITHM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361C4F-6C35-4D19-97F5-C795A884DB8E}"/>
              </a:ext>
            </a:extLst>
          </p:cNvPr>
          <p:cNvSpPr txBox="1"/>
          <p:nvPr/>
        </p:nvSpPr>
        <p:spPr>
          <a:xfrm>
            <a:off x="967409" y="1484243"/>
            <a:ext cx="5936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9799BF-9E0F-43AC-9AE0-4A6D97771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044" y="1117912"/>
            <a:ext cx="8295860" cy="4604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368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99BFF5-FF3C-4301-A737-710EA5D3F6EF}"/>
              </a:ext>
            </a:extLst>
          </p:cNvPr>
          <p:cNvSpPr txBox="1"/>
          <p:nvPr/>
        </p:nvSpPr>
        <p:spPr>
          <a:xfrm>
            <a:off x="861391" y="1338469"/>
            <a:ext cx="1065474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Forget Gate: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Forget Gate Does the task of discarding the data that is no longer useful.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Gate: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the information is filtered and ready to use it is then passed on through the Input Gate as an input to the algorithm.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LSTM algorithm then processes this information. It also adds new updates to the information.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Gate: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Gate does the task of passing the processed and updated information form the current step to the next.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188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5258DE-7646-4BCA-BE25-2A472086D90B}"/>
              </a:ext>
            </a:extLst>
          </p:cNvPr>
          <p:cNvSpPr txBox="1"/>
          <p:nvPr/>
        </p:nvSpPr>
        <p:spPr>
          <a:xfrm>
            <a:off x="1258957" y="728870"/>
            <a:ext cx="9621078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OF THE ALGORITHM</a:t>
            </a:r>
          </a:p>
          <a:p>
            <a:pPr algn="ctr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Yahoo (Stock) Dataset.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of Stock Prices for the particular Stock.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Data is downloaded and stored in a NumPy array of three dimension.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network structure is build with [1, a, b] dimensions where;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is the input layer,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is the neuron in the next layer, and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are the neurons in the subsequent layers with a linear activation function.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the constructed network with the help of training data.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5526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B477DD-5606-4348-AB66-5BC16A64FFC6}"/>
              </a:ext>
            </a:extLst>
          </p:cNvPr>
          <p:cNvSpPr txBox="1"/>
          <p:nvPr/>
        </p:nvSpPr>
        <p:spPr>
          <a:xfrm>
            <a:off x="1046922" y="1046922"/>
            <a:ext cx="1001864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output of the last layer as the prediction for the current layer.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step 3 and step 4 until optimal convergence is reached.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Obtain prediction by providing test data as input to the network.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accuracy of the network.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8: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6072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0FED5C-6036-4DBE-AB55-CDEF889173D8}"/>
              </a:ext>
            </a:extLst>
          </p:cNvPr>
          <p:cNvSpPr txBox="1"/>
          <p:nvPr/>
        </p:nvSpPr>
        <p:spPr>
          <a:xfrm>
            <a:off x="1656522" y="609600"/>
            <a:ext cx="9210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334C41-71D3-4F2B-AB4C-BAC47A36D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7722" y="2156557"/>
            <a:ext cx="4071649" cy="24975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EF1E0B-9788-496B-A405-4123BA14C7CE}"/>
              </a:ext>
            </a:extLst>
          </p:cNvPr>
          <p:cNvSpPr txBox="1"/>
          <p:nvPr/>
        </p:nvSpPr>
        <p:spPr>
          <a:xfrm>
            <a:off x="1033670" y="1843950"/>
            <a:ext cx="641405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Long Short Term Memory Algorithm can be used in various different fields to predict the future outcome like: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Care Facilities.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Controlling.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Sourcing.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Forecasting.</a:t>
            </a:r>
          </a:p>
        </p:txBody>
      </p:sp>
    </p:spTree>
    <p:extLst>
      <p:ext uri="{BB962C8B-B14F-4D97-AF65-F5344CB8AC3E}">
        <p14:creationId xmlns:p14="http://schemas.microsoft.com/office/powerpoint/2010/main" val="2853220031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93932EF5-314F-409E-8020-FEE5FA0795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{5457A383-FF32-455E-B6BA-F6EB0F916F4C}tf22712842_win32</Template>
  <TotalTime>128</TotalTime>
  <Words>746</Words>
  <Application>Microsoft Office PowerPoint</Application>
  <PresentationFormat>Widescreen</PresentationFormat>
  <Paragraphs>96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Bookman Old Style</vt:lpstr>
      <vt:lpstr>Calibri</vt:lpstr>
      <vt:lpstr>Courier New</vt:lpstr>
      <vt:lpstr>Franklin Gothic Book</vt:lpstr>
      <vt:lpstr>Times New Roman</vt:lpstr>
      <vt:lpstr>Wingdings</vt:lpstr>
      <vt:lpstr>1_RetrospectVTI</vt:lpstr>
      <vt:lpstr>PowerPoint Presentation</vt:lpstr>
      <vt:lpstr>STOCK PREDICTION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18</cp:revision>
  <dcterms:created xsi:type="dcterms:W3CDTF">2023-01-29T07:19:50Z</dcterms:created>
  <dcterms:modified xsi:type="dcterms:W3CDTF">2023-07-07T03:33:24Z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